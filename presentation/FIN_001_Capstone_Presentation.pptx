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(0:00-0:30):</a:t>
            </a:r>
          </a:p>
          <a:p>
            <a:r>
              <a:t>"Hello mentors, my name is [Your Name]. My project is FIN-001, scenario FIN-01: Automatic Transaction Categorization. The goal is to classify raw bank transaction text into 17 spending categories to power spending analytics in digital banking. Importantly, it is designed as an advisory tool with confidence guards—it surfaces ambiguous transactions for human review rather than making silent, incorrect auto-categorizations."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(0:30-1:15):</a:t>
            </a:r>
          </a:p>
          <a:p>
            <a:r>
              <a:t>"Our primary user is a digital banking app user or personal finance analytics team. Inputs are noisy, abbreviated transaction strings like '[debit] PUBLIX 7860' or 'MTG PMT PENFED CU'. Rule-based regex systems fail to scale as thousands of new merchants appear. We formulate this as an NLP multi-class classification task over 17 balanced categories. The expected output is a predicted category, a calibrated confidence score, top-3 alternative categories, and a binary 'needs_review' flag for low-confidence or unfamiliar inputs."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(1:15-1:45):</a:t>
            </a:r>
          </a:p>
          <a:p>
            <a:r>
              <a:t>"I used the public DoDataThings dataset (MIT license, 68,000 rows across 17 balanced categories). To prevent data leakage, I de-duplicated 22,298 exact duplicate rows BEFORE splitting, reducing to 45,692 unique descriptions. Store numbers and ZIPs were normalized to &lt;num&gt; so the model learns merchant semantics, not random numbers. The TF-IDF vectorizer was fit strictly on the train split, and automated unit tests verify that zero strings cross the split boundary."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(1:45-2:20):</a:t>
            </a:r>
          </a:p>
          <a:p>
            <a:r>
              <a:t>"We established a naive baseline with Macro-F1 of 0.0094. TF-IDF word 1–2 n-grams with Logistic Regression achieved 0.9960 on validation. A char-SVM scored slightly higher at 0.9971, but produces no probabilities, which are required for our confidence threshold fallback. Crucially, MiniLM sentence embeddings scored lower at 0.9468 and ran 40x slower because dense embeddings blur specific tokens like 'MTG PMT'. This empirical finding justified shipping the lightweight 1.2MB TF-IDF + LogReg pipeline."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(2:20-3:10):</a:t>
            </a:r>
          </a:p>
          <a:p>
            <a:r>
              <a:t>"The candidate was frozen and scored ONCE on the protected test set, achieving a Macro-F1 of 0.9961 and top-3 accuracy of 0.9990. However, because synthetic datasets can be optimistic, I evaluated an unseen-merchant test slice of 716 rows whose merchants never appeared in training. The Macro-F1 dropped by ~1.8% to 0.9784. This slice is our honest generalization metric for live bank feeds. The main limitation is that bag-of-words cannot semantically interpret completely novel merchant names, which is why our confidence fallback is critical."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(3:10-4:20):</a:t>
            </a:r>
          </a:p>
          <a:p>
            <a:r>
              <a:t>"Let's see the live system in action. The Streamlit app loads directly from the committed model bundle without re-training. First, I enter a standard transaction: '[debit] MTG PMT PENFED CU'. The model predicts Mortgage with 97.4% confidence and shows top-3 alternatives. Now, if I input an unrecognized merchant like 'SOME UNFAMILIAR MERCHANT LLC', the zero-OOV term guard kicks in, returning a 'needs_review' flag with low confidence. This directly satisfies our business safety requirement."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SCRIPT (4:20-5:00):</a:t>
            </a:r>
          </a:p>
          <a:p>
            <a:r>
              <a:t>"In summary, we built a lightweight (~1.2MB), highly accurate categorization service with built-in safety fallbacks. For next steps, I recommend testing time-based splits and creating an active-learning feedback loop. The entire pipeline and all gates are 100% reproducible from the repository. Thank you, and I am now ready for your questions."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NOTES (Q&amp;A Anchor):</a:t>
            </a:r>
          </a:p>
          <a:p>
            <a:r>
              <a:t>Use this slide if mentors ask for deep technical justification regarding model choice, data leakage controls, or unseen merchant handling.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1645920"/>
            <a:ext cx="109728" cy="3474720"/>
          </a:xfrm>
          <a:prstGeom prst="round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645920"/>
            <a:ext cx="10058400" cy="3474720"/>
          </a:xfrm>
          <a:prstGeom prst="rect">
            <a:avLst/>
          </a:prstGeom>
          <a:noFill/>
        </p:spPr>
        <p:txBody>
          <a:bodyPr wrap="square">
            <a:spAutoFit/>
          </a:bodyPr>
          <a:lstStyle/>
          <a:p>
            <a:pPr>
              <a:spcAft>
                <a:spcPts val="1200"/>
              </a:spcAft>
              <a:defRPr sz="3200" b="1">
                <a:solidFill>
                  <a:srgbClr val="F8FAFC"/>
                </a:solidFill>
              </a:defRPr>
            </a:pPr>
            <a:r>
              <a:t>FIN-001: AUTOMATIC TRANSACTION CATEGORIZATION</a:t>
            </a:r>
          </a:p>
          <a:p>
            <a:pPr>
              <a:spcAft>
                <a:spcPts val="2400"/>
              </a:spcAft>
              <a:defRPr sz="1800">
                <a:solidFill>
                  <a:srgbClr val="38BDF8"/>
                </a:solidFill>
              </a:defRPr>
            </a:pPr>
            <a:r>
              <a:t>Scalable NLP Multi-Class Categorization for Digital Banking with Confidence Fallback</a:t>
            </a:r>
          </a:p>
          <a:p>
            <a:pPr>
              <a:defRPr sz="1300">
                <a:solidFill>
                  <a:srgbClr val="94A3B8"/>
                </a:solidFill>
              </a:defRPr>
            </a:pPr>
            <a:r>
              <a:t>IT Park / World Bank AI-ML Capstone • Scenario FIN-01</a:t>
            </a:r>
            <a:br/>
            <a:r>
              <a:t>Presenter: Student Defense Presentation • Format: 5-Minute Pitch</a:t>
            </a:r>
          </a:p>
        </p:txBody>
      </p:sp>
      <p:sp>
        <p:nvSpPr>
          <p:cNvPr id="5" name="Rounded Rectangle 4"/>
          <p:cNvSpPr/>
          <p:nvPr/>
        </p:nvSpPr>
        <p:spPr>
          <a:xfrm>
            <a:off x="1097280" y="5120640"/>
            <a:ext cx="3108960" cy="109728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tIns="137160" lIns="182880"/>
          <a:lstStyle/>
          <a:p>
            <a:pPr algn="ctr">
              <a:defRPr sz="2200" b="1">
                <a:solidFill>
                  <a:srgbClr val="10B981"/>
                </a:solidFill>
              </a:defRPr>
            </a:pPr>
            <a:r>
              <a:t>0.9961</a:t>
            </a:r>
          </a:p>
          <a:p>
            <a:pPr>
              <a:defRPr sz="1100">
                <a:solidFill>
                  <a:srgbClr val="94A3B8"/>
                </a:solidFill>
              </a:defRPr>
            </a:pPr>
            <a:r>
              <a:t>Protected Test Macro-F1 (17 Classes)</a:t>
            </a:r>
          </a:p>
        </p:txBody>
      </p:sp>
      <p:sp>
        <p:nvSpPr>
          <p:cNvPr id="6" name="Rounded Rectangle 5"/>
          <p:cNvSpPr/>
          <p:nvPr/>
        </p:nvSpPr>
        <p:spPr>
          <a:xfrm>
            <a:off x="4480560" y="5120640"/>
            <a:ext cx="3108960" cy="109728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tIns="137160" lIns="182880"/>
          <a:lstStyle/>
          <a:p>
            <a:pPr algn="ctr">
              <a:defRPr sz="2200" b="1">
                <a:solidFill>
                  <a:srgbClr val="F59E0B"/>
                </a:solidFill>
              </a:defRPr>
            </a:pPr>
            <a:r>
              <a:t>0.9784</a:t>
            </a:r>
          </a:p>
          <a:p>
            <a:pPr>
              <a:defRPr sz="1100">
                <a:solidFill>
                  <a:srgbClr val="94A3B8"/>
                </a:solidFill>
              </a:defRPr>
            </a:pPr>
            <a:r>
              <a:t>Unseen-Merchant Slice Macro-F1</a:t>
            </a:r>
          </a:p>
        </p:txBody>
      </p:sp>
      <p:sp>
        <p:nvSpPr>
          <p:cNvPr id="7" name="Rounded Rectangle 6"/>
          <p:cNvSpPr/>
          <p:nvPr/>
        </p:nvSpPr>
        <p:spPr>
          <a:xfrm>
            <a:off x="7863840" y="5120640"/>
            <a:ext cx="3474720" cy="109728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tIns="137160" lIns="182880"/>
          <a:lstStyle/>
          <a:p>
            <a:pPr algn="ctr">
              <a:defRPr sz="2200" b="1">
                <a:solidFill>
                  <a:srgbClr val="38BDF8"/>
                </a:solidFill>
              </a:defRPr>
            </a:pPr>
            <a:r>
              <a:t>1.2 MB &amp; &lt;1ms</a:t>
            </a:r>
          </a:p>
          <a:p>
            <a:pPr>
              <a:defRPr sz="1100">
                <a:solidFill>
                  <a:srgbClr val="94A3B8"/>
                </a:solidFill>
              </a:defRPr>
            </a:pPr>
            <a:r>
              <a:t>Lightweight Bundle + OOV Fallback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9144000" cy="274320"/>
          </a:xfrm>
          <a:prstGeom prst="rect">
            <a:avLst/>
          </a:prstGeom>
          <a:noFill/>
        </p:spPr>
        <p:txBody>
          <a:bodyPr wrap="square" lIns="0" tIns="0" rIns="0" bIns="0">
            <a:spAutoFit/>
          </a:bodyPr>
          <a:lstStyle/>
          <a:p>
            <a:pPr>
              <a:defRPr sz="1100" b="1">
                <a:solidFill>
                  <a:srgbClr val="38BDF8"/>
                </a:solidFill>
              </a:defRPr>
            </a:pPr>
            <a:r>
              <a:t>PROBLEM DISCOVERY</a:t>
            </a:r>
          </a:p>
        </p:txBody>
      </p:sp>
      <p:sp>
        <p:nvSpPr>
          <p:cNvPr id="4" name="TextBox 3"/>
          <p:cNvSpPr txBox="1"/>
          <p:nvPr/>
        </p:nvSpPr>
        <p:spPr>
          <a:xfrm>
            <a:off x="731520" y="685800"/>
            <a:ext cx="8686800" cy="640080"/>
          </a:xfrm>
          <a:prstGeom prst="rect">
            <a:avLst/>
          </a:prstGeom>
          <a:noFill/>
        </p:spPr>
        <p:txBody>
          <a:bodyPr wrap="square" lIns="0" tIns="0" rIns="0" bIns="0">
            <a:spAutoFit/>
          </a:bodyPr>
          <a:lstStyle/>
          <a:p>
            <a:pPr>
              <a:defRPr sz="2400" b="1">
                <a:solidFill>
                  <a:srgbClr val="F8FAFC"/>
                </a:solidFill>
              </a:defRPr>
            </a:pPr>
            <a:r>
              <a:t>Business Problem &amp; ML Formulation</a:t>
            </a:r>
          </a:p>
        </p:txBody>
      </p:sp>
      <p:sp>
        <p:nvSpPr>
          <p:cNvPr id="5" name="Rounded Rectangle 4"/>
          <p:cNvSpPr/>
          <p:nvPr/>
        </p:nvSpPr>
        <p:spPr>
          <a:xfrm>
            <a:off x="9601200" y="502920"/>
            <a:ext cx="1828800" cy="41148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Rubric 1 &amp; 8</a:t>
            </a:r>
          </a:p>
        </p:txBody>
      </p:sp>
      <p:sp>
        <p:nvSpPr>
          <p:cNvPr id="6" name="Rounded Rectangle 5"/>
          <p:cNvSpPr/>
          <p:nvPr/>
        </p:nvSpPr>
        <p:spPr>
          <a:xfrm>
            <a:off x="731520" y="1463040"/>
            <a:ext cx="3291840" cy="4754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182880"/>
          <a:lstStyle/>
          <a:p>
            <a:pPr algn="ctr">
              <a:spcAft>
                <a:spcPts val="1000"/>
              </a:spcAft>
              <a:defRPr sz="1600" b="1">
                <a:solidFill>
                  <a:srgbClr val="F59E0B"/>
                </a:solidFill>
              </a:defRPr>
            </a:pPr>
            <a:r>
              <a:t>The Real-World Problem</a:t>
            </a:r>
          </a:p>
          <a:p>
            <a:pPr>
              <a:spcAft>
                <a:spcPts val="600"/>
              </a:spcAft>
              <a:defRPr sz="1200">
                <a:solidFill>
                  <a:srgbClr val="E2E8F0"/>
                </a:solidFill>
              </a:defRPr>
            </a:pPr>
            <a:r>
              <a:t>• Digital banking apps display thousands of daily transactions.</a:t>
            </a:r>
          </a:p>
          <a:p>
            <a:pPr>
              <a:spcAft>
                <a:spcPts val="600"/>
              </a:spcAft>
              <a:defRPr sz="1200">
                <a:solidFill>
                  <a:srgbClr val="E2E8F0"/>
                </a:solidFill>
              </a:defRPr>
            </a:pPr>
            <a:r>
              <a:t>• Descriptions are noisy, cryptic, &amp; abbreviated (e.g. '[debit] PUBLIX 7860', 'MTG PMT PENFED CU').</a:t>
            </a:r>
          </a:p>
          <a:p>
            <a:pPr>
              <a:spcAft>
                <a:spcPts val="600"/>
              </a:spcAft>
              <a:defRPr sz="1200">
                <a:solidFill>
                  <a:srgbClr val="E2E8F0"/>
                </a:solidFill>
              </a:defRPr>
            </a:pPr>
            <a:r>
              <a:t>• Rule-based regex tables break down rapidly as new merchants and formats appear.</a:t>
            </a:r>
          </a:p>
          <a:p>
            <a:pPr>
              <a:spcAft>
                <a:spcPts val="600"/>
              </a:spcAft>
              <a:defRPr sz="1200">
                <a:solidFill>
                  <a:srgbClr val="E2E8F0"/>
                </a:solidFill>
              </a:defRPr>
            </a:pPr>
            <a:r>
              <a:t>• Manual tagging is costly, slow, and does not scale.</a:t>
            </a:r>
          </a:p>
        </p:txBody>
      </p:sp>
      <p:sp>
        <p:nvSpPr>
          <p:cNvPr id="7" name="Rounded Rectangle 6"/>
          <p:cNvSpPr/>
          <p:nvPr/>
        </p:nvSpPr>
        <p:spPr>
          <a:xfrm>
            <a:off x="4389120" y="1463040"/>
            <a:ext cx="3291840" cy="4754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182880"/>
          <a:lstStyle/>
          <a:p>
            <a:pPr algn="ctr">
              <a:spcAft>
                <a:spcPts val="1000"/>
              </a:spcAft>
              <a:defRPr sz="1600" b="1">
                <a:solidFill>
                  <a:srgbClr val="38BDF8"/>
                </a:solidFill>
              </a:defRPr>
            </a:pPr>
            <a:r>
              <a:t>User &amp; ML Task Formulation</a:t>
            </a:r>
          </a:p>
          <a:p>
            <a:pPr>
              <a:spcAft>
                <a:spcPts val="600"/>
              </a:spcAft>
              <a:defRPr sz="1200">
                <a:solidFill>
                  <a:srgbClr val="E2E8F0"/>
                </a:solidFill>
              </a:defRPr>
            </a:pPr>
            <a:r>
              <a:t>• Primary User: Digital banking app users &amp; personal finance analytics teams.</a:t>
            </a:r>
          </a:p>
          <a:p>
            <a:pPr>
              <a:spcAft>
                <a:spcPts val="600"/>
              </a:spcAft>
              <a:defRPr sz="1200">
                <a:solidFill>
                  <a:srgbClr val="E2E8F0"/>
                </a:solidFill>
              </a:defRPr>
            </a:pPr>
            <a:r>
              <a:t>• ML Task: Supervised multi-class text classification.</a:t>
            </a:r>
          </a:p>
          <a:p>
            <a:pPr>
              <a:spcAft>
                <a:spcPts val="600"/>
              </a:spcAft>
              <a:defRPr sz="1200">
                <a:solidFill>
                  <a:srgbClr val="E2E8F0"/>
                </a:solidFill>
              </a:defRPr>
            </a:pPr>
            <a:r>
              <a:t>• Input: Raw transaction description text string + optional [debit]/[credit] flag.</a:t>
            </a:r>
          </a:p>
          <a:p>
            <a:pPr>
              <a:spcAft>
                <a:spcPts val="600"/>
              </a:spcAft>
              <a:defRPr sz="1200">
                <a:solidFill>
                  <a:srgbClr val="E2E8F0"/>
                </a:solidFill>
              </a:defRPr>
            </a:pPr>
            <a:r>
              <a:t>• Output: 1 of 17 discrete categories + calibrated confidence + top-3 alternatives.</a:t>
            </a:r>
          </a:p>
          <a:p>
            <a:pPr>
              <a:spcAft>
                <a:spcPts val="600"/>
              </a:spcAft>
              <a:defRPr sz="1200">
                <a:solidFill>
                  <a:srgbClr val="E2E8F0"/>
                </a:solidFill>
              </a:defRPr>
            </a:pPr>
            <a:r>
              <a:t>• Safety Requirement: Ambiguous/OOV inputs flagged 'needs_review'.</a:t>
            </a:r>
          </a:p>
        </p:txBody>
      </p:sp>
      <p:sp>
        <p:nvSpPr>
          <p:cNvPr id="8" name="Rounded Rectangle 7"/>
          <p:cNvSpPr/>
          <p:nvPr/>
        </p:nvSpPr>
        <p:spPr>
          <a:xfrm>
            <a:off x="8046720" y="1463040"/>
            <a:ext cx="3383280" cy="4754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182880"/>
          <a:lstStyle/>
          <a:p>
            <a:pPr algn="ctr">
              <a:spcAft>
                <a:spcPts val="1000"/>
              </a:spcAft>
              <a:defRPr sz="1600" b="1">
                <a:solidFill>
                  <a:srgbClr val="10B981"/>
                </a:solidFill>
              </a:defRPr>
            </a:pPr>
            <a:r>
              <a:t>17-Category Balanced Taxonomy</a:t>
            </a:r>
          </a:p>
          <a:p>
            <a:pPr>
              <a:spcAft>
                <a:spcPts val="600"/>
              </a:spcAft>
              <a:defRPr sz="1200">
                <a:solidFill>
                  <a:srgbClr val="E2E8F0"/>
                </a:solidFill>
              </a:defRPr>
            </a:pPr>
            <a:r>
              <a:t>• Core Living: Groceries, Mortgage, Utilities, Gas/Automotive.</a:t>
            </a:r>
          </a:p>
          <a:p>
            <a:pPr>
              <a:spcAft>
                <a:spcPts val="600"/>
              </a:spcAft>
              <a:defRPr sz="1200">
                <a:solidFill>
                  <a:srgbClr val="E2E8F0"/>
                </a:solidFill>
              </a:defRPr>
            </a:pPr>
            <a:r>
              <a:t>• Discretionary: Restaurants, Shopping, Entertainment, Travel.</a:t>
            </a:r>
          </a:p>
          <a:p>
            <a:pPr>
              <a:spcAft>
                <a:spcPts val="600"/>
              </a:spcAft>
              <a:defRPr sz="1200">
                <a:solidFill>
                  <a:srgbClr val="E2E8F0"/>
                </a:solidFill>
              </a:defRPr>
            </a:pPr>
            <a:r>
              <a:t>• Financial: Income, Transfer, Fees, Financial Services, Subscriptions.</a:t>
            </a:r>
          </a:p>
          <a:p>
            <a:pPr>
              <a:spcAft>
                <a:spcPts val="600"/>
              </a:spcAft>
              <a:defRPr sz="1200">
                <a:solidFill>
                  <a:srgbClr val="E2E8F0"/>
                </a:solidFill>
              </a:defRPr>
            </a:pPr>
            <a:r>
              <a:t>• Well-being: Healthcare, Education, Services, Charity.</a:t>
            </a:r>
          </a:p>
          <a:p>
            <a:pPr>
              <a:spcAft>
                <a:spcPts val="600"/>
              </a:spcAft>
              <a:defRPr sz="1200">
                <a:solidFill>
                  <a:srgbClr val="E2E8F0"/>
                </a:solidFill>
              </a:defRPr>
            </a:pPr>
            <a:r>
              <a:t>• Equal Business Importance: Every category is critical to personal budgeting.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9144000" cy="274320"/>
          </a:xfrm>
          <a:prstGeom prst="rect">
            <a:avLst/>
          </a:prstGeom>
          <a:noFill/>
        </p:spPr>
        <p:txBody>
          <a:bodyPr wrap="square" lIns="0" tIns="0" rIns="0" bIns="0">
            <a:spAutoFit/>
          </a:bodyPr>
          <a:lstStyle/>
          <a:p>
            <a:pPr>
              <a:defRPr sz="1100" b="1">
                <a:solidFill>
                  <a:srgbClr val="38BDF8"/>
                </a:solidFill>
              </a:defRPr>
            </a:pPr>
            <a:r>
              <a:t>DATA GATE</a:t>
            </a:r>
          </a:p>
        </p:txBody>
      </p:sp>
      <p:sp>
        <p:nvSpPr>
          <p:cNvPr id="4" name="TextBox 3"/>
          <p:cNvSpPr txBox="1"/>
          <p:nvPr/>
        </p:nvSpPr>
        <p:spPr>
          <a:xfrm>
            <a:off x="731520" y="685800"/>
            <a:ext cx="8686800" cy="640080"/>
          </a:xfrm>
          <a:prstGeom prst="rect">
            <a:avLst/>
          </a:prstGeom>
          <a:noFill/>
        </p:spPr>
        <p:txBody>
          <a:bodyPr wrap="square" lIns="0" tIns="0" rIns="0" bIns="0">
            <a:spAutoFit/>
          </a:bodyPr>
          <a:lstStyle/>
          <a:p>
            <a:pPr>
              <a:defRPr sz="2400" b="1">
                <a:solidFill>
                  <a:srgbClr val="F8FAFC"/>
                </a:solidFill>
              </a:defRPr>
            </a:pPr>
            <a:r>
              <a:t>Dataset Provenance &amp; Leakage-Proof Pipeline</a:t>
            </a:r>
          </a:p>
        </p:txBody>
      </p:sp>
      <p:sp>
        <p:nvSpPr>
          <p:cNvPr id="5" name="Rounded Rectangle 4"/>
          <p:cNvSpPr/>
          <p:nvPr/>
        </p:nvSpPr>
        <p:spPr>
          <a:xfrm>
            <a:off x="9601200" y="502920"/>
            <a:ext cx="1828800" cy="41148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Rubric 2 &amp; 3</a:t>
            </a:r>
          </a:p>
        </p:txBody>
      </p:sp>
      <p:sp>
        <p:nvSpPr>
          <p:cNvPr id="6" name="Rounded Rectangle 5"/>
          <p:cNvSpPr/>
          <p:nvPr/>
        </p:nvSpPr>
        <p:spPr>
          <a:xfrm>
            <a:off x="731520" y="1463040"/>
            <a:ext cx="5120640" cy="4754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182880"/>
          <a:lstStyle/>
          <a:p>
            <a:pPr algn="ctr">
              <a:spcAft>
                <a:spcPts val="1000"/>
              </a:spcAft>
              <a:defRPr sz="1600" b="1">
                <a:solidFill>
                  <a:srgbClr val="38BDF8"/>
                </a:solidFill>
              </a:defRPr>
            </a:pPr>
            <a:r>
              <a:t>Dataset Architecture &amp; Cleaning</a:t>
            </a:r>
          </a:p>
          <a:p>
            <a:pPr>
              <a:spcAft>
                <a:spcPts val="600"/>
              </a:spcAft>
              <a:defRPr sz="1200">
                <a:solidFill>
                  <a:srgbClr val="E2E8F0"/>
                </a:solidFill>
              </a:defRPr>
            </a:pPr>
            <a:r>
              <a:t>• Source: DoDataThings/us-bank-transaction-categories-v2 (Hugging Face, MIT License).</a:t>
            </a:r>
          </a:p>
          <a:p>
            <a:pPr>
              <a:spcAft>
                <a:spcPts val="600"/>
              </a:spcAft>
              <a:defRPr sz="1200">
                <a:solidFill>
                  <a:srgbClr val="E2E8F0"/>
                </a:solidFill>
              </a:defRPr>
            </a:pPr>
            <a:r>
              <a:t>• Volume: 68,000 raw rows across 17 perfectly balanced categories.</a:t>
            </a:r>
          </a:p>
          <a:p>
            <a:pPr>
              <a:spcAft>
                <a:spcPts val="600"/>
              </a:spcAft>
              <a:defRPr sz="1200">
                <a:solidFill>
                  <a:srgbClr val="E2E8F0"/>
                </a:solidFill>
              </a:defRPr>
            </a:pPr>
            <a:r>
              <a:t>• De-Duplication (DQ-01): 22,298 exact duplicate rows (32.8%) removed BEFORE splitting (reduced to 45,692 unique descriptions).</a:t>
            </a:r>
          </a:p>
          <a:p>
            <a:pPr>
              <a:spcAft>
                <a:spcPts val="600"/>
              </a:spcAft>
              <a:defRPr sz="1200">
                <a:solidFill>
                  <a:srgbClr val="E2E8F0"/>
                </a:solidFill>
              </a:defRPr>
            </a:pPr>
            <a:r>
              <a:t>• Ambiguity Resolution (DQ-02): 5 descriptions with conflicting labels dropped.</a:t>
            </a:r>
          </a:p>
          <a:p>
            <a:pPr>
              <a:spcAft>
                <a:spcPts val="600"/>
              </a:spcAft>
              <a:defRPr sz="1200">
                <a:solidFill>
                  <a:srgbClr val="E2E8F0"/>
                </a:solidFill>
              </a:defRPr>
            </a:pPr>
            <a:r>
              <a:t>• Identifier Normalization (DQ-03): Store #s, ZIPs, PPD IDs converted to &lt;num&gt;.</a:t>
            </a:r>
          </a:p>
        </p:txBody>
      </p:sp>
      <p:sp>
        <p:nvSpPr>
          <p:cNvPr id="7" name="Rounded Rectangle 6"/>
          <p:cNvSpPr/>
          <p:nvPr/>
        </p:nvSpPr>
        <p:spPr>
          <a:xfrm>
            <a:off x="6217920" y="1463040"/>
            <a:ext cx="5212080" cy="4754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182880"/>
          <a:lstStyle/>
          <a:p>
            <a:pPr algn="ctr">
              <a:spcAft>
                <a:spcPts val="1000"/>
              </a:spcAft>
              <a:defRPr sz="1600" b="1">
                <a:solidFill>
                  <a:srgbClr val="10B981"/>
                </a:solidFill>
              </a:defRPr>
            </a:pPr>
            <a:r>
              <a:t>Leakage Controls &amp; Fit Boundary</a:t>
            </a:r>
          </a:p>
          <a:p>
            <a:pPr>
              <a:spcAft>
                <a:spcPts val="600"/>
              </a:spcAft>
              <a:defRPr sz="1200">
                <a:solidFill>
                  <a:srgbClr val="E2E8F0"/>
                </a:solidFill>
              </a:defRPr>
            </a:pPr>
            <a:r>
              <a:t>• Stratified Partition: 70% Train (31,984), 15% Valid (6,854), 15% Test (6,854).</a:t>
            </a:r>
          </a:p>
          <a:p>
            <a:pPr>
              <a:spcAft>
                <a:spcPts val="600"/>
              </a:spcAft>
              <a:defRPr sz="1200">
                <a:solidFill>
                  <a:srgbClr val="E2E8F0"/>
                </a:solidFill>
              </a:defRPr>
            </a:pPr>
            <a:r>
              <a:t>• Strict Fit Boundary: TF-IDF vectorizer vocabulary &amp; IDF weights fit ONLY on Train split.</a:t>
            </a:r>
          </a:p>
          <a:p>
            <a:pPr>
              <a:spcAft>
                <a:spcPts val="600"/>
              </a:spcAft>
              <a:defRPr sz="1200">
                <a:solidFill>
                  <a:srgbClr val="E2E8F0"/>
                </a:solidFill>
              </a:defRPr>
            </a:pPr>
            <a:r>
              <a:t>• Zero Boundary Crossings: Verified via tests/test_data_gate.py — 0 identical descriptions appear across partitions.</a:t>
            </a:r>
          </a:p>
          <a:p>
            <a:pPr>
              <a:spcAft>
                <a:spcPts val="600"/>
              </a:spcAft>
              <a:defRPr sz="1200">
                <a:solidFill>
                  <a:srgbClr val="E2E8F0"/>
                </a:solidFill>
              </a:defRPr>
            </a:pPr>
            <a:r>
              <a:t>• Protected Test Set: Held-out test split accessed exactly ONCE in src/finalize.py after candidate model freeze.</a:t>
            </a:r>
          </a:p>
          <a:p>
            <a:pPr>
              <a:spcAft>
                <a:spcPts val="600"/>
              </a:spcAft>
              <a:defRPr sz="1200">
                <a:solidFill>
                  <a:srgbClr val="E2E8F0"/>
                </a:solidFill>
              </a:defRPr>
            </a:pPr>
            <a:r>
              <a:t>• Zero Post-Outcome Leakage: No balances, accounts, or future fields used.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9144000" cy="274320"/>
          </a:xfrm>
          <a:prstGeom prst="rect">
            <a:avLst/>
          </a:prstGeom>
          <a:noFill/>
        </p:spPr>
        <p:txBody>
          <a:bodyPr wrap="square" lIns="0" tIns="0" rIns="0" bIns="0">
            <a:spAutoFit/>
          </a:bodyPr>
          <a:lstStyle/>
          <a:p>
            <a:pPr>
              <a:defRPr sz="1100" b="1">
                <a:solidFill>
                  <a:srgbClr val="38BDF8"/>
                </a:solidFill>
              </a:defRPr>
            </a:pPr>
            <a:r>
              <a:t>MODEL EXPLORATION</a:t>
            </a:r>
          </a:p>
        </p:txBody>
      </p:sp>
      <p:sp>
        <p:nvSpPr>
          <p:cNvPr id="4" name="TextBox 3"/>
          <p:cNvSpPr txBox="1"/>
          <p:nvPr/>
        </p:nvSpPr>
        <p:spPr>
          <a:xfrm>
            <a:off x="731520" y="685800"/>
            <a:ext cx="8686800" cy="640080"/>
          </a:xfrm>
          <a:prstGeom prst="rect">
            <a:avLst/>
          </a:prstGeom>
          <a:noFill/>
        </p:spPr>
        <p:txBody>
          <a:bodyPr wrap="square" lIns="0" tIns="0" rIns="0" bIns="0">
            <a:spAutoFit/>
          </a:bodyPr>
          <a:lstStyle/>
          <a:p>
            <a:pPr>
              <a:defRPr sz="2400" b="1">
                <a:solidFill>
                  <a:srgbClr val="F8FAFC"/>
                </a:solidFill>
              </a:defRPr>
            </a:pPr>
            <a:r>
              <a:t>Model Sweep &amp; Key Empirical Finding</a:t>
            </a:r>
          </a:p>
        </p:txBody>
      </p:sp>
      <p:sp>
        <p:nvSpPr>
          <p:cNvPr id="5" name="Rounded Rectangle 4"/>
          <p:cNvSpPr/>
          <p:nvPr/>
        </p:nvSpPr>
        <p:spPr>
          <a:xfrm>
            <a:off x="9601200" y="502920"/>
            <a:ext cx="1828800" cy="41148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Rubric 3 &amp; 4</a:t>
            </a:r>
          </a:p>
        </p:txBody>
      </p:sp>
      <p:graphicFrame>
        <p:nvGraphicFramePr>
          <p:cNvPr id="6" name="Table 5"/>
          <p:cNvGraphicFramePr>
            <a:graphicFrameLocks noGrp="1"/>
          </p:cNvGraphicFramePr>
          <p:nvPr/>
        </p:nvGraphicFramePr>
        <p:xfrm>
          <a:off x="731520" y="1463040"/>
          <a:ext cx="10698480" cy="2286000"/>
        </p:xfrm>
        <a:graphic>
          <a:graphicData uri="http://schemas.openxmlformats.org/drawingml/2006/table">
            <a:tbl>
              <a:tblPr firstRow="1" bandRow="1">
                <a:tableStyleId>{5C22544A-7EE6-4342-B048-85BDC9FD1C3A}</a:tableStyleId>
              </a:tblPr>
              <a:tblGrid>
                <a:gridCol w="2926080"/>
                <a:gridCol w="2011680"/>
                <a:gridCol w="1645920"/>
                <a:gridCol w="2103120"/>
                <a:gridCol w="2011680"/>
              </a:tblGrid>
              <a:tr h="457200">
                <a:tc>
                  <a:txBody>
                    <a:bodyPr/>
                    <a:lstStyle/>
                    <a:p>
                      <a:pPr algn="ctr">
                        <a:defRPr b="1" sz="1200">
                          <a:solidFill>
                            <a:srgbClr val="F8FAFC"/>
                          </a:solidFill>
                        </a:defRPr>
                      </a:pPr>
                      <a:r>
                        <a:t>Model / Architecture</a:t>
                      </a:r>
                    </a:p>
                  </a:txBody>
                  <a:tcPr>
                    <a:solidFill>
                      <a:srgbClr val="334155"/>
                    </a:solidFill>
                  </a:tcPr>
                </a:tc>
                <a:tc>
                  <a:txBody>
                    <a:bodyPr/>
                    <a:lstStyle/>
                    <a:p>
                      <a:pPr algn="ctr">
                        <a:defRPr b="1" sz="1200">
                          <a:solidFill>
                            <a:srgbClr val="F8FAFC"/>
                          </a:solidFill>
                        </a:defRPr>
                      </a:pPr>
                      <a:r>
                        <a:t>Feature Setup</a:t>
                      </a:r>
                    </a:p>
                  </a:txBody>
                  <a:tcPr>
                    <a:solidFill>
                      <a:srgbClr val="334155"/>
                    </a:solidFill>
                  </a:tcPr>
                </a:tc>
                <a:tc>
                  <a:txBody>
                    <a:bodyPr/>
                    <a:lstStyle/>
                    <a:p>
                      <a:pPr algn="ctr">
                        <a:defRPr b="1" sz="1200">
                          <a:solidFill>
                            <a:srgbClr val="F8FAFC"/>
                          </a:solidFill>
                        </a:defRPr>
                      </a:pPr>
                      <a:r>
                        <a:t>Val Macro-F1</a:t>
                      </a:r>
                    </a:p>
                  </a:txBody>
                  <a:tcPr>
                    <a:solidFill>
                      <a:srgbClr val="334155"/>
                    </a:solidFill>
                  </a:tcPr>
                </a:tc>
                <a:tc>
                  <a:txBody>
                    <a:bodyPr/>
                    <a:lstStyle/>
                    <a:p>
                      <a:pPr algn="ctr">
                        <a:defRPr b="1" sz="1200">
                          <a:solidFill>
                            <a:srgbClr val="F8FAFC"/>
                          </a:solidFill>
                        </a:defRPr>
                      </a:pPr>
                      <a:r>
                        <a:t>Calibrated Proba</a:t>
                      </a:r>
                    </a:p>
                  </a:txBody>
                  <a:tcPr>
                    <a:solidFill>
                      <a:srgbClr val="334155"/>
                    </a:solidFill>
                  </a:tcPr>
                </a:tc>
                <a:tc>
                  <a:txBody>
                    <a:bodyPr/>
                    <a:lstStyle/>
                    <a:p>
                      <a:pPr algn="ctr">
                        <a:defRPr b="1" sz="1200">
                          <a:solidFill>
                            <a:srgbClr val="F8FAFC"/>
                          </a:solidFill>
                        </a:defRPr>
                      </a:pPr>
                      <a:r>
                        <a:t>Status</a:t>
                      </a:r>
                    </a:p>
                  </a:txBody>
                  <a:tcPr>
                    <a:solidFill>
                      <a:srgbClr val="334155"/>
                    </a:solidFill>
                  </a:tcPr>
                </a:tc>
              </a:tr>
              <a:tr h="457200">
                <a:tc>
                  <a:txBody>
                    <a:bodyPr/>
                    <a:lstStyle/>
                    <a:p>
                      <a:pPr>
                        <a:defRPr sz="1100">
                          <a:solidFill>
                            <a:srgbClr val="E2E8F0"/>
                          </a:solidFill>
                        </a:defRPr>
                      </a:pPr>
                      <a:r>
                        <a:t>Naive Dummy Classifier</a:t>
                      </a:r>
                    </a:p>
                  </a:txBody>
                  <a:tcPr>
                    <a:solidFill>
                      <a:srgbClr val="1E293B"/>
                    </a:solidFill>
                  </a:tcPr>
                </a:tc>
                <a:tc>
                  <a:txBody>
                    <a:bodyPr/>
                    <a:lstStyle/>
                    <a:p>
                      <a:pPr algn="ctr">
                        <a:defRPr sz="1100">
                          <a:solidFill>
                            <a:srgbClr val="E2E8F0"/>
                          </a:solidFill>
                        </a:defRPr>
                      </a:pPr>
                      <a:r>
                        <a:t>Most Frequent</a:t>
                      </a:r>
                    </a:p>
                  </a:txBody>
                  <a:tcPr>
                    <a:solidFill>
                      <a:srgbClr val="1E293B"/>
                    </a:solidFill>
                  </a:tcPr>
                </a:tc>
                <a:tc>
                  <a:txBody>
                    <a:bodyPr/>
                    <a:lstStyle/>
                    <a:p>
                      <a:pPr algn="ctr">
                        <a:defRPr sz="1100" b="1">
                          <a:solidFill>
                            <a:srgbClr val="38BDF8"/>
                          </a:solidFill>
                        </a:defRPr>
                      </a:pPr>
                      <a:r>
                        <a:t>0.0094</a:t>
                      </a:r>
                    </a:p>
                  </a:txBody>
                  <a:tcPr>
                    <a:solidFill>
                      <a:srgbClr val="1E293B"/>
                    </a:solidFill>
                  </a:tcPr>
                </a:tc>
                <a:tc>
                  <a:txBody>
                    <a:bodyPr/>
                    <a:lstStyle/>
                    <a:p>
                      <a:pPr algn="ctr">
                        <a:defRPr sz="1100">
                          <a:solidFill>
                            <a:srgbClr val="E2E8F0"/>
                          </a:solidFill>
                        </a:defRPr>
                      </a:pPr>
                      <a:r>
                        <a:t>No</a:t>
                      </a:r>
                    </a:p>
                  </a:txBody>
                  <a:tcPr>
                    <a:solidFill>
                      <a:srgbClr val="1E293B"/>
                    </a:solidFill>
                  </a:tcPr>
                </a:tc>
                <a:tc>
                  <a:txBody>
                    <a:bodyPr/>
                    <a:lstStyle/>
                    <a:p>
                      <a:pPr algn="ctr">
                        <a:defRPr sz="1100">
                          <a:solidFill>
                            <a:srgbClr val="E2E8F0"/>
                          </a:solidFill>
                        </a:defRPr>
                      </a:pPr>
                      <a:r>
                        <a:t>Baseline Floor</a:t>
                      </a:r>
                    </a:p>
                  </a:txBody>
                  <a:tcPr>
                    <a:solidFill>
                      <a:srgbClr val="1E293B"/>
                    </a:solidFill>
                  </a:tcPr>
                </a:tc>
              </a:tr>
              <a:tr h="457200">
                <a:tc>
                  <a:txBody>
                    <a:bodyPr/>
                    <a:lstStyle/>
                    <a:p>
                      <a:pPr>
                        <a:defRPr sz="1100">
                          <a:solidFill>
                            <a:srgbClr val="E2E8F0"/>
                          </a:solidFill>
                        </a:defRPr>
                      </a:pPr>
                      <a:r>
                        <a:t>TF-IDF + Logistic Regression</a:t>
                      </a:r>
                    </a:p>
                  </a:txBody>
                  <a:tcPr>
                    <a:solidFill>
                      <a:srgbClr val="1E293B"/>
                    </a:solidFill>
                  </a:tcPr>
                </a:tc>
                <a:tc>
                  <a:txBody>
                    <a:bodyPr/>
                    <a:lstStyle/>
                    <a:p>
                      <a:pPr algn="ctr">
                        <a:defRPr sz="1100">
                          <a:solidFill>
                            <a:srgbClr val="E2E8F0"/>
                          </a:solidFill>
                        </a:defRPr>
                      </a:pPr>
                      <a:r>
                        <a:t>Word 1-2 n-grams</a:t>
                      </a:r>
                    </a:p>
                  </a:txBody>
                  <a:tcPr>
                    <a:solidFill>
                      <a:srgbClr val="1E293B"/>
                    </a:solidFill>
                  </a:tcPr>
                </a:tc>
                <a:tc>
                  <a:txBody>
                    <a:bodyPr/>
                    <a:lstStyle/>
                    <a:p>
                      <a:pPr algn="ctr">
                        <a:defRPr sz="1100" b="1">
                          <a:solidFill>
                            <a:srgbClr val="38BDF8"/>
                          </a:solidFill>
                        </a:defRPr>
                      </a:pPr>
                      <a:r>
                        <a:t>0.9960</a:t>
                      </a:r>
                    </a:p>
                  </a:txBody>
                  <a:tcPr>
                    <a:solidFill>
                      <a:srgbClr val="1E293B"/>
                    </a:solidFill>
                  </a:tcPr>
                </a:tc>
                <a:tc>
                  <a:txBody>
                    <a:bodyPr/>
                    <a:lstStyle/>
                    <a:p>
                      <a:pPr algn="ctr">
                        <a:defRPr sz="1100">
                          <a:solidFill>
                            <a:srgbClr val="E2E8F0"/>
                          </a:solidFill>
                        </a:defRPr>
                      </a:pPr>
                      <a:r>
                        <a:t>Yes (predict_proba)</a:t>
                      </a:r>
                    </a:p>
                  </a:txBody>
                  <a:tcPr>
                    <a:solidFill>
                      <a:srgbClr val="1E293B"/>
                    </a:solidFill>
                  </a:tcPr>
                </a:tc>
                <a:tc>
                  <a:txBody>
                    <a:bodyPr/>
                    <a:lstStyle/>
                    <a:p>
                      <a:pPr algn="ctr">
                        <a:defRPr sz="1100" b="1">
                          <a:solidFill>
                            <a:srgbClr val="10B981"/>
                          </a:solidFill>
                        </a:defRPr>
                      </a:pPr>
                      <a:r>
                        <a:t>SELECTED WINNER</a:t>
                      </a:r>
                    </a:p>
                  </a:txBody>
                  <a:tcPr>
                    <a:solidFill>
                      <a:srgbClr val="1E293B"/>
                    </a:solidFill>
                  </a:tcPr>
                </a:tc>
              </a:tr>
              <a:tr h="457200">
                <a:tc>
                  <a:txBody>
                    <a:bodyPr/>
                    <a:lstStyle/>
                    <a:p>
                      <a:pPr>
                        <a:defRPr sz="1100">
                          <a:solidFill>
                            <a:srgbClr val="E2E8F0"/>
                          </a:solidFill>
                        </a:defRPr>
                      </a:pPr>
                      <a:r>
                        <a:t>TF-IDF + LinearSVC</a:t>
                      </a:r>
                    </a:p>
                  </a:txBody>
                  <a:tcPr>
                    <a:solidFill>
                      <a:srgbClr val="1E293B"/>
                    </a:solidFill>
                  </a:tcPr>
                </a:tc>
                <a:tc>
                  <a:txBody>
                    <a:bodyPr/>
                    <a:lstStyle/>
                    <a:p>
                      <a:pPr algn="ctr">
                        <a:defRPr sz="1100">
                          <a:solidFill>
                            <a:srgbClr val="E2E8F0"/>
                          </a:solidFill>
                        </a:defRPr>
                      </a:pPr>
                      <a:r>
                        <a:t>Char_wb 3-5 n-grams</a:t>
                      </a:r>
                    </a:p>
                  </a:txBody>
                  <a:tcPr>
                    <a:solidFill>
                      <a:srgbClr val="1E293B"/>
                    </a:solidFill>
                  </a:tcPr>
                </a:tc>
                <a:tc>
                  <a:txBody>
                    <a:bodyPr/>
                    <a:lstStyle/>
                    <a:p>
                      <a:pPr algn="ctr">
                        <a:defRPr sz="1100" b="1">
                          <a:solidFill>
                            <a:srgbClr val="38BDF8"/>
                          </a:solidFill>
                        </a:defRPr>
                      </a:pPr>
                      <a:r>
                        <a:t>0.9971</a:t>
                      </a:r>
                    </a:p>
                  </a:txBody>
                  <a:tcPr>
                    <a:solidFill>
                      <a:srgbClr val="1E293B"/>
                    </a:solidFill>
                  </a:tcPr>
                </a:tc>
                <a:tc>
                  <a:txBody>
                    <a:bodyPr/>
                    <a:lstStyle/>
                    <a:p>
                      <a:pPr algn="ctr">
                        <a:defRPr sz="1100">
                          <a:solidFill>
                            <a:srgbClr val="E2E8F0"/>
                          </a:solidFill>
                        </a:defRPr>
                      </a:pPr>
                      <a:r>
                        <a:t>No (No Proba)</a:t>
                      </a:r>
                    </a:p>
                  </a:txBody>
                  <a:tcPr>
                    <a:solidFill>
                      <a:srgbClr val="1E293B"/>
                    </a:solidFill>
                  </a:tcPr>
                </a:tc>
                <a:tc>
                  <a:txBody>
                    <a:bodyPr/>
                    <a:lstStyle/>
                    <a:p>
                      <a:pPr algn="ctr">
                        <a:defRPr sz="1100">
                          <a:solidFill>
                            <a:srgbClr val="F59E0B"/>
                          </a:solidFill>
                        </a:defRPr>
                      </a:pPr>
                      <a:r>
                        <a:t>Rejected (No Proba)</a:t>
                      </a:r>
                    </a:p>
                  </a:txBody>
                  <a:tcPr>
                    <a:solidFill>
                      <a:srgbClr val="1E293B"/>
                    </a:solidFill>
                  </a:tcPr>
                </a:tc>
              </a:tr>
              <a:tr h="457200">
                <a:tc>
                  <a:txBody>
                    <a:bodyPr/>
                    <a:lstStyle/>
                    <a:p>
                      <a:pPr>
                        <a:defRPr sz="1100">
                          <a:solidFill>
                            <a:srgbClr val="E2E8F0"/>
                          </a:solidFill>
                        </a:defRPr>
                      </a:pPr>
                      <a:r>
                        <a:t>Sentence Transformers (MiniLM)</a:t>
                      </a:r>
                    </a:p>
                  </a:txBody>
                  <a:tcPr>
                    <a:solidFill>
                      <a:srgbClr val="1E293B"/>
                    </a:solidFill>
                  </a:tcPr>
                </a:tc>
                <a:tc>
                  <a:txBody>
                    <a:bodyPr/>
                    <a:lstStyle/>
                    <a:p>
                      <a:pPr algn="ctr">
                        <a:defRPr sz="1100">
                          <a:solidFill>
                            <a:srgbClr val="E2E8F0"/>
                          </a:solidFill>
                        </a:defRPr>
                      </a:pPr>
                      <a:r>
                        <a:t>384-dim Embeddings</a:t>
                      </a:r>
                    </a:p>
                  </a:txBody>
                  <a:tcPr>
                    <a:solidFill>
                      <a:srgbClr val="1E293B"/>
                    </a:solidFill>
                  </a:tcPr>
                </a:tc>
                <a:tc>
                  <a:txBody>
                    <a:bodyPr/>
                    <a:lstStyle/>
                    <a:p>
                      <a:pPr algn="ctr">
                        <a:defRPr sz="1100" b="1">
                          <a:solidFill>
                            <a:srgbClr val="38BDF8"/>
                          </a:solidFill>
                        </a:defRPr>
                      </a:pPr>
                      <a:r>
                        <a:t>0.9468</a:t>
                      </a:r>
                    </a:p>
                  </a:txBody>
                  <a:tcPr>
                    <a:solidFill>
                      <a:srgbClr val="1E293B"/>
                    </a:solidFill>
                  </a:tcPr>
                </a:tc>
                <a:tc>
                  <a:txBody>
                    <a:bodyPr/>
                    <a:lstStyle/>
                    <a:p>
                      <a:pPr algn="ctr">
                        <a:defRPr sz="1100">
                          <a:solidFill>
                            <a:srgbClr val="E2E8F0"/>
                          </a:solidFill>
                        </a:defRPr>
                      </a:pPr>
                      <a:r>
                        <a:t>Yes</a:t>
                      </a:r>
                    </a:p>
                  </a:txBody>
                  <a:tcPr>
                    <a:solidFill>
                      <a:srgbClr val="1E293B"/>
                    </a:solidFill>
                  </a:tcPr>
                </a:tc>
                <a:tc>
                  <a:txBody>
                    <a:bodyPr/>
                    <a:lstStyle/>
                    <a:p>
                      <a:pPr algn="ctr">
                        <a:defRPr sz="1100">
                          <a:solidFill>
                            <a:srgbClr val="F59E0B"/>
                          </a:solidFill>
                        </a:defRPr>
                      </a:pPr>
                      <a:r>
                        <a:t>Rejected (Worse &amp; 40x slow)</a:t>
                      </a:r>
                    </a:p>
                  </a:txBody>
                  <a:tcPr>
                    <a:solidFill>
                      <a:srgbClr val="1E293B"/>
                    </a:solidFill>
                  </a:tcPr>
                </a:tc>
              </a:tr>
            </a:tbl>
          </a:graphicData>
        </a:graphic>
      </p:graphicFrame>
      <p:sp>
        <p:nvSpPr>
          <p:cNvPr id="7" name="Rounded Rectangle 6"/>
          <p:cNvSpPr/>
          <p:nvPr/>
        </p:nvSpPr>
        <p:spPr>
          <a:xfrm>
            <a:off x="731520" y="4023360"/>
            <a:ext cx="10698480" cy="219456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182880"/>
          <a:lstStyle/>
          <a:p>
            <a:pPr algn="ctr">
              <a:spcAft>
                <a:spcPts val="1000"/>
              </a:spcAft>
              <a:defRPr sz="1600" b="1">
                <a:solidFill>
                  <a:srgbClr val="38BDF8"/>
                </a:solidFill>
              </a:defRPr>
            </a:pPr>
            <a:r>
              <a:t>Key Technical Finding: Why Bag-of-Words Beat Transformers</a:t>
            </a:r>
          </a:p>
          <a:p>
            <a:pPr>
              <a:spcAft>
                <a:spcPts val="600"/>
              </a:spcAft>
              <a:defRPr sz="1200">
                <a:solidFill>
                  <a:srgbClr val="E2E8F0"/>
                </a:solidFill>
              </a:defRPr>
            </a:pPr>
            <a:r>
              <a:t>• In short, structured financial strings, discriminative signal lives in specific lexical tokens ('MTG PMT', 'DIR DEP', 'PUBLIX').</a:t>
            </a:r>
          </a:p>
          <a:p>
            <a:pPr>
              <a:spcAft>
                <a:spcPts val="600"/>
              </a:spcAft>
              <a:defRPr sz="1200">
                <a:solidFill>
                  <a:srgbClr val="E2E8F0"/>
                </a:solidFill>
              </a:defRPr>
            </a:pPr>
            <a:r>
              <a:t>• Dense semantic embeddings (MiniLM) blur these exact token boundaries, dropping macro-F1 to 0.9468.</a:t>
            </a:r>
          </a:p>
          <a:p>
            <a:pPr>
              <a:spcAft>
                <a:spcPts val="600"/>
              </a:spcAft>
              <a:defRPr sz="1200">
                <a:solidFill>
                  <a:srgbClr val="E2E8F0"/>
                </a:solidFill>
              </a:defRPr>
            </a:pPr>
            <a:r>
              <a:t>• Logistic Regression provides calibrated probabilities (essential for confidence thresholds) at only 0.0011 F1 difference from SVM.</a:t>
            </a:r>
          </a:p>
          <a:p>
            <a:pPr>
              <a:spcAft>
                <a:spcPts val="600"/>
              </a:spcAft>
              <a:defRPr sz="1200">
                <a:solidFill>
                  <a:srgbClr val="E2E8F0"/>
                </a:solidFill>
              </a:defRPr>
            </a:pPr>
            <a:r>
              <a:t>• Production Impact: 1.2 MB artifact, &lt;1ms CPU inference, zero GPU requirement, perfectly suited for Streamlit Cloud.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9144000" cy="274320"/>
          </a:xfrm>
          <a:prstGeom prst="rect">
            <a:avLst/>
          </a:prstGeom>
          <a:noFill/>
        </p:spPr>
        <p:txBody>
          <a:bodyPr wrap="square" lIns="0" tIns="0" rIns="0" bIns="0">
            <a:spAutoFit/>
          </a:bodyPr>
          <a:lstStyle/>
          <a:p>
            <a:pPr>
              <a:defRPr sz="1100" b="1">
                <a:solidFill>
                  <a:srgbClr val="38BDF8"/>
                </a:solidFill>
              </a:defRPr>
            </a:pPr>
            <a:r>
              <a:t>MODEL EVALUATION</a:t>
            </a:r>
          </a:p>
        </p:txBody>
      </p:sp>
      <p:sp>
        <p:nvSpPr>
          <p:cNvPr id="4" name="TextBox 3"/>
          <p:cNvSpPr txBox="1"/>
          <p:nvPr/>
        </p:nvSpPr>
        <p:spPr>
          <a:xfrm>
            <a:off x="731520" y="685800"/>
            <a:ext cx="8686800" cy="640080"/>
          </a:xfrm>
          <a:prstGeom prst="rect">
            <a:avLst/>
          </a:prstGeom>
          <a:noFill/>
        </p:spPr>
        <p:txBody>
          <a:bodyPr wrap="square" lIns="0" tIns="0" rIns="0" bIns="0">
            <a:spAutoFit/>
          </a:bodyPr>
          <a:lstStyle/>
          <a:p>
            <a:pPr>
              <a:defRPr sz="2400" b="1">
                <a:solidFill>
                  <a:srgbClr val="F8FAFC"/>
                </a:solidFill>
              </a:defRPr>
            </a:pPr>
            <a:r>
              <a:t>Test Results &amp; Honest Generalization Slice</a:t>
            </a:r>
          </a:p>
        </p:txBody>
      </p:sp>
      <p:sp>
        <p:nvSpPr>
          <p:cNvPr id="5" name="Rounded Rectangle 4"/>
          <p:cNvSpPr/>
          <p:nvPr/>
        </p:nvSpPr>
        <p:spPr>
          <a:xfrm>
            <a:off x="9601200" y="502920"/>
            <a:ext cx="1828800" cy="41148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Rubric 4, 7 &amp; 8</a:t>
            </a:r>
          </a:p>
        </p:txBody>
      </p:sp>
      <p:sp>
        <p:nvSpPr>
          <p:cNvPr id="6" name="Rounded Rectangle 5"/>
          <p:cNvSpPr/>
          <p:nvPr/>
        </p:nvSpPr>
        <p:spPr>
          <a:xfrm>
            <a:off x="731520" y="1463040"/>
            <a:ext cx="5120640" cy="4754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182880"/>
          <a:lstStyle/>
          <a:p>
            <a:pPr algn="ctr">
              <a:spcAft>
                <a:spcPts val="1000"/>
              </a:spcAft>
              <a:defRPr sz="1600" b="1">
                <a:solidFill>
                  <a:srgbClr val="10B981"/>
                </a:solidFill>
              </a:defRPr>
            </a:pPr>
            <a:r>
              <a:t>Protected Test Evaluation (Scored Once)</a:t>
            </a:r>
          </a:p>
          <a:p>
            <a:pPr>
              <a:spcAft>
                <a:spcPts val="600"/>
              </a:spcAft>
              <a:defRPr sz="1200">
                <a:solidFill>
                  <a:srgbClr val="E2E8F0"/>
                </a:solidFill>
              </a:defRPr>
            </a:pPr>
            <a:r>
              <a:t>• Candidate frozen on validation, evaluated ONCE on test (n=6,854):</a:t>
            </a:r>
          </a:p>
          <a:p>
            <a:pPr>
              <a:spcAft>
                <a:spcPts val="600"/>
              </a:spcAft>
              <a:defRPr sz="1200">
                <a:solidFill>
                  <a:srgbClr val="E2E8F0"/>
                </a:solidFill>
              </a:defRPr>
            </a:pPr>
            <a:r>
              <a:t>  • Test Macro-F1: 0.9961</a:t>
            </a:r>
          </a:p>
          <a:p>
            <a:pPr>
              <a:spcAft>
                <a:spcPts val="600"/>
              </a:spcAft>
              <a:defRPr sz="1200">
                <a:solidFill>
                  <a:srgbClr val="E2E8F0"/>
                </a:solidFill>
              </a:defRPr>
            </a:pPr>
            <a:r>
              <a:t>  • Test Accuracy: 0.9955</a:t>
            </a:r>
          </a:p>
          <a:p>
            <a:pPr>
              <a:spcAft>
                <a:spcPts val="600"/>
              </a:spcAft>
              <a:defRPr sz="1200">
                <a:solidFill>
                  <a:srgbClr val="E2E8F0"/>
                </a:solidFill>
              </a:defRPr>
            </a:pPr>
            <a:r>
              <a:t>  • Test Top-3 Accuracy: 0.9990</a:t>
            </a:r>
          </a:p>
          <a:p>
            <a:pPr>
              <a:spcAft>
                <a:spcPts val="600"/>
              </a:spcAft>
              <a:defRPr sz="1200">
                <a:solidFill>
                  <a:srgbClr val="E2E8F0"/>
                </a:solidFill>
              </a:defRPr>
            </a:pPr>
            <a:r>
              <a:t>• Lift over Majority Baseline: &gt;100x improvement.</a:t>
            </a:r>
          </a:p>
          <a:p>
            <a:pPr>
              <a:spcAft>
                <a:spcPts val="600"/>
              </a:spcAft>
              <a:defRPr sz="1200">
                <a:solidFill>
                  <a:srgbClr val="E2E8F0"/>
                </a:solidFill>
              </a:defRPr>
            </a:pPr>
            <a:r>
              <a:t>• Per-Class Performance: High F1 across all 17 classes (lowest: Shopping @ 0.984, Groceries @ 0.986).</a:t>
            </a:r>
          </a:p>
          <a:p>
            <a:pPr>
              <a:spcAft>
                <a:spcPts val="600"/>
              </a:spcAft>
              <a:defRPr sz="1200">
                <a:solidFill>
                  <a:srgbClr val="E2E8F0"/>
                </a:solidFill>
              </a:defRPr>
            </a:pPr>
            <a:r>
              <a:t>• Top Confusion: Big-box retailers shared across Groceries and Shopping (mitigated by top-3 candidates).</a:t>
            </a:r>
          </a:p>
        </p:txBody>
      </p:sp>
      <p:sp>
        <p:nvSpPr>
          <p:cNvPr id="7" name="Rounded Rectangle 6"/>
          <p:cNvSpPr/>
          <p:nvPr/>
        </p:nvSpPr>
        <p:spPr>
          <a:xfrm>
            <a:off x="6217920" y="1463040"/>
            <a:ext cx="5212080" cy="4754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182880"/>
          <a:lstStyle/>
          <a:p>
            <a:pPr algn="ctr">
              <a:spcAft>
                <a:spcPts val="1000"/>
              </a:spcAft>
              <a:defRPr sz="1600" b="1">
                <a:solidFill>
                  <a:srgbClr val="F59E0B"/>
                </a:solidFill>
              </a:defRPr>
            </a:pPr>
            <a:r>
              <a:t>The Honest Generalization Slice (Crucial Insight)</a:t>
            </a:r>
          </a:p>
          <a:p>
            <a:pPr>
              <a:spcAft>
                <a:spcPts val="600"/>
              </a:spcAft>
              <a:defRPr sz="1200">
                <a:solidFill>
                  <a:srgbClr val="E2E8F0"/>
                </a:solidFill>
              </a:defRPr>
            </a:pPr>
            <a:r>
              <a:t>• Synthetic format data produces optimistic in-distribution scores.</a:t>
            </a:r>
          </a:p>
          <a:p>
            <a:pPr>
              <a:spcAft>
                <a:spcPts val="600"/>
              </a:spcAft>
              <a:defRPr sz="1200">
                <a:solidFill>
                  <a:srgbClr val="E2E8F0"/>
                </a:solidFill>
              </a:defRPr>
            </a:pPr>
            <a:r>
              <a:t>• Unseen-Merchant Test Slice (n=716 rows from merchants NEVER present in training set):</a:t>
            </a:r>
          </a:p>
          <a:p>
            <a:pPr>
              <a:spcAft>
                <a:spcPts val="600"/>
              </a:spcAft>
              <a:defRPr sz="1200">
                <a:solidFill>
                  <a:srgbClr val="E2E8F0"/>
                </a:solidFill>
              </a:defRPr>
            </a:pPr>
            <a:r>
              <a:t>  • Unseen Slice Macro-F1: 0.9784 (vs 0.9962 on seen)</a:t>
            </a:r>
          </a:p>
          <a:p>
            <a:pPr>
              <a:spcAft>
                <a:spcPts val="600"/>
              </a:spcAft>
              <a:defRPr sz="1200">
                <a:solidFill>
                  <a:srgbClr val="E2E8F0"/>
                </a:solidFill>
              </a:defRPr>
            </a:pPr>
            <a:r>
              <a:t>  • ~1.8% Realistic Drop: The honest estimate of production degradation on novel live bank feeds.</a:t>
            </a:r>
          </a:p>
          <a:p>
            <a:pPr>
              <a:spcAft>
                <a:spcPts val="600"/>
              </a:spcAft>
              <a:defRPr sz="1200">
                <a:solidFill>
                  <a:srgbClr val="E2E8F0"/>
                </a:solidFill>
              </a:defRPr>
            </a:pPr>
            <a:r>
              <a:t>• Mitigation Strategy: Sparse bag-of-words cannot guess novel merchants, so our inference engine includes an OOV terms check that triggers 'needs_review'.</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9144000" cy="274320"/>
          </a:xfrm>
          <a:prstGeom prst="rect">
            <a:avLst/>
          </a:prstGeom>
          <a:noFill/>
        </p:spPr>
        <p:txBody>
          <a:bodyPr wrap="square" lIns="0" tIns="0" rIns="0" bIns="0">
            <a:spAutoFit/>
          </a:bodyPr>
          <a:lstStyle/>
          <a:p>
            <a:pPr>
              <a:defRPr sz="1100" b="1">
                <a:solidFill>
                  <a:srgbClr val="38BDF8"/>
                </a:solidFill>
              </a:defRPr>
            </a:pPr>
            <a:r>
              <a:t>SHOWCASE &amp; DEPLOYMENT</a:t>
            </a:r>
          </a:p>
        </p:txBody>
      </p:sp>
      <p:sp>
        <p:nvSpPr>
          <p:cNvPr id="4" name="TextBox 3"/>
          <p:cNvSpPr txBox="1"/>
          <p:nvPr/>
        </p:nvSpPr>
        <p:spPr>
          <a:xfrm>
            <a:off x="731520" y="685800"/>
            <a:ext cx="8686800" cy="640080"/>
          </a:xfrm>
          <a:prstGeom prst="rect">
            <a:avLst/>
          </a:prstGeom>
          <a:noFill/>
        </p:spPr>
        <p:txBody>
          <a:bodyPr wrap="square" lIns="0" tIns="0" rIns="0" bIns="0">
            <a:spAutoFit/>
          </a:bodyPr>
          <a:lstStyle/>
          <a:p>
            <a:pPr>
              <a:defRPr sz="2400" b="1">
                <a:solidFill>
                  <a:srgbClr val="F8FAFC"/>
                </a:solidFill>
              </a:defRPr>
            </a:pPr>
            <a:r>
              <a:t>Inference Architecture &amp; Live Demo Route</a:t>
            </a:r>
          </a:p>
        </p:txBody>
      </p:sp>
      <p:sp>
        <p:nvSpPr>
          <p:cNvPr id="5" name="Rounded Rectangle 4"/>
          <p:cNvSpPr/>
          <p:nvPr/>
        </p:nvSpPr>
        <p:spPr>
          <a:xfrm>
            <a:off x="9601200" y="502920"/>
            <a:ext cx="1828800" cy="41148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Rubric 5 &amp; 6</a:t>
            </a:r>
          </a:p>
        </p:txBody>
      </p:sp>
      <p:sp>
        <p:nvSpPr>
          <p:cNvPr id="6" name="Rounded Rectangle 5"/>
          <p:cNvSpPr/>
          <p:nvPr/>
        </p:nvSpPr>
        <p:spPr>
          <a:xfrm>
            <a:off x="731520" y="1463040"/>
            <a:ext cx="5120640" cy="4754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182880"/>
          <a:lstStyle/>
          <a:p>
            <a:pPr algn="ctr">
              <a:spcAft>
                <a:spcPts val="1000"/>
              </a:spcAft>
              <a:defRPr sz="1600" b="1">
                <a:solidFill>
                  <a:srgbClr val="38BDF8"/>
                </a:solidFill>
              </a:defRPr>
            </a:pPr>
            <a:r>
              <a:t>Production Inference Architecture</a:t>
            </a:r>
          </a:p>
          <a:p>
            <a:pPr>
              <a:spcAft>
                <a:spcPts val="600"/>
              </a:spcAft>
              <a:defRPr sz="1200">
                <a:solidFill>
                  <a:srgbClr val="E2E8F0"/>
                </a:solidFill>
              </a:defRPr>
            </a:pPr>
            <a:r>
              <a:t>• Self-Contained Artifact: artifacts/transaction_categorizer.joblib (1.2 MB).</a:t>
            </a:r>
          </a:p>
          <a:p>
            <a:pPr>
              <a:spcAft>
                <a:spcPts val="600"/>
              </a:spcAft>
              <a:defRPr sz="1200">
                <a:solidFill>
                  <a:srgbClr val="E2E8F0"/>
                </a:solidFill>
              </a:defRPr>
            </a:pPr>
            <a:r>
              <a:t>• Zero-Data Inference: Loads only the bundle — no data dependencies, no training code.</a:t>
            </a:r>
          </a:p>
          <a:p>
            <a:pPr>
              <a:spcAft>
                <a:spcPts val="600"/>
              </a:spcAft>
              <a:defRPr sz="1200">
                <a:solidFill>
                  <a:srgbClr val="E2E8F0"/>
                </a:solidFill>
              </a:defRPr>
            </a:pPr>
            <a:r>
              <a:t>• Dual-Guard Safety Engine (src/inference.py):</a:t>
            </a:r>
          </a:p>
          <a:p>
            <a:pPr>
              <a:spcAft>
                <a:spcPts val="600"/>
              </a:spcAft>
              <a:defRPr sz="1200">
                <a:solidFill>
                  <a:srgbClr val="E2E8F0"/>
                </a:solidFill>
              </a:defRPr>
            </a:pPr>
            <a:r>
              <a:t>  1. Confidence Guard: Flags predictions where top confidence &lt; 0.50.</a:t>
            </a:r>
          </a:p>
          <a:p>
            <a:pPr>
              <a:spcAft>
                <a:spcPts val="600"/>
              </a:spcAft>
              <a:defRPr sz="1200">
                <a:solidFill>
                  <a:srgbClr val="E2E8F0"/>
                </a:solidFill>
              </a:defRPr>
            </a:pPr>
            <a:r>
              <a:t>  2. OOV Guard: Flags inputs with 0 recognized merchant vocabulary terms.</a:t>
            </a:r>
          </a:p>
          <a:p>
            <a:pPr>
              <a:spcAft>
                <a:spcPts val="600"/>
              </a:spcAft>
              <a:defRPr sz="1200">
                <a:solidFill>
                  <a:srgbClr val="E2E8F0"/>
                </a:solidFill>
              </a:defRPr>
            </a:pPr>
            <a:r>
              <a:t>• Automated Verification: 16/16 pytest suite (test_app.py, test_data_gate.py, test_inference.py).</a:t>
            </a:r>
          </a:p>
        </p:txBody>
      </p:sp>
      <p:sp>
        <p:nvSpPr>
          <p:cNvPr id="7" name="Rounded Rectangle 6"/>
          <p:cNvSpPr/>
          <p:nvPr/>
        </p:nvSpPr>
        <p:spPr>
          <a:xfrm>
            <a:off x="6217920" y="1463040"/>
            <a:ext cx="5212080" cy="4754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182880"/>
          <a:lstStyle/>
          <a:p>
            <a:pPr algn="ctr">
              <a:spcAft>
                <a:spcPts val="1000"/>
              </a:spcAft>
              <a:defRPr sz="1600" b="1">
                <a:solidFill>
                  <a:srgbClr val="10B981"/>
                </a:solidFill>
              </a:defRPr>
            </a:pPr>
            <a:r>
              <a:t>Live Demo Interactive Route</a:t>
            </a:r>
          </a:p>
          <a:p>
            <a:pPr>
              <a:spcAft>
                <a:spcPts val="600"/>
              </a:spcAft>
              <a:defRPr sz="1200">
                <a:solidFill>
                  <a:srgbClr val="E2E8F0"/>
                </a:solidFill>
              </a:defRPr>
            </a:pPr>
            <a:r>
              <a:t>• Live Interface: Streamlit Web App (app.py).</a:t>
            </a:r>
          </a:p>
          <a:p>
            <a:pPr>
              <a:spcAft>
                <a:spcPts val="600"/>
              </a:spcAft>
              <a:defRPr sz="1200">
                <a:solidFill>
                  <a:srgbClr val="E2E8F0"/>
                </a:solidFill>
              </a:defRPr>
            </a:pPr>
            <a:r>
              <a:t>• Route 1: High-Confidence Known Transaction:</a:t>
            </a:r>
          </a:p>
          <a:p>
            <a:pPr>
              <a:spcAft>
                <a:spcPts val="600"/>
              </a:spcAft>
              <a:defRPr sz="1200">
                <a:solidFill>
                  <a:srgbClr val="E2E8F0"/>
                </a:solidFill>
              </a:defRPr>
            </a:pPr>
            <a:r>
              <a:t>  • Input: '[debit] MTG PMT PENFED CU'</a:t>
            </a:r>
          </a:p>
          <a:p>
            <a:pPr>
              <a:spcAft>
                <a:spcPts val="600"/>
              </a:spcAft>
              <a:defRPr sz="1200">
                <a:solidFill>
                  <a:srgbClr val="E2E8F0"/>
                </a:solidFill>
              </a:defRPr>
            </a:pPr>
            <a:r>
              <a:t>  • Result: Mortgage (Confidence: 97.4%, Top-3 shown).</a:t>
            </a:r>
          </a:p>
          <a:p>
            <a:pPr>
              <a:spcAft>
                <a:spcPts val="600"/>
              </a:spcAft>
              <a:defRPr sz="1200">
                <a:solidFill>
                  <a:srgbClr val="E2E8F0"/>
                </a:solidFill>
              </a:defRPr>
            </a:pPr>
            <a:r>
              <a:t>• Route 2: Ambiguous / Novel Transaction:</a:t>
            </a:r>
          </a:p>
          <a:p>
            <a:pPr>
              <a:spcAft>
                <a:spcPts val="600"/>
              </a:spcAft>
              <a:defRPr sz="1200">
                <a:solidFill>
                  <a:srgbClr val="E2E8F0"/>
                </a:solidFill>
              </a:defRPr>
            </a:pPr>
            <a:r>
              <a:t>  • Input: 'SOME UNFAMILIAR MERCHANT LLC'</a:t>
            </a:r>
          </a:p>
          <a:p>
            <a:pPr>
              <a:spcAft>
                <a:spcPts val="600"/>
              </a:spcAft>
              <a:defRPr sz="1200">
                <a:solidFill>
                  <a:srgbClr val="E2E8F0"/>
                </a:solidFill>
              </a:defRPr>
            </a:pPr>
            <a:r>
              <a:t>  • Result: 'needs_review' Flag Triggered (Zero recognized terms).</a:t>
            </a:r>
          </a:p>
          <a:p>
            <a:pPr>
              <a:spcAft>
                <a:spcPts val="600"/>
              </a:spcAft>
              <a:defRPr sz="1200">
                <a:solidFill>
                  <a:srgbClr val="E2E8F0"/>
                </a:solidFill>
              </a:defRPr>
            </a:pPr>
            <a:r>
              <a:t>• Advisory Safety: Prevents silent miscategorization in customer budgets.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9144000" cy="274320"/>
          </a:xfrm>
          <a:prstGeom prst="rect">
            <a:avLst/>
          </a:prstGeom>
          <a:noFill/>
        </p:spPr>
        <p:txBody>
          <a:bodyPr wrap="square" lIns="0" tIns="0" rIns="0" bIns="0">
            <a:spAutoFit/>
          </a:bodyPr>
          <a:lstStyle/>
          <a:p>
            <a:pPr>
              <a:defRPr sz="1100" b="1">
                <a:solidFill>
                  <a:srgbClr val="38BDF8"/>
                </a:solidFill>
              </a:defRPr>
            </a:pPr>
            <a:r>
              <a:t>FINALIZATION &amp; DEFENSE</a:t>
            </a:r>
          </a:p>
        </p:txBody>
      </p:sp>
      <p:sp>
        <p:nvSpPr>
          <p:cNvPr id="4" name="TextBox 3"/>
          <p:cNvSpPr txBox="1"/>
          <p:nvPr/>
        </p:nvSpPr>
        <p:spPr>
          <a:xfrm>
            <a:off x="731520" y="685800"/>
            <a:ext cx="8686800" cy="640080"/>
          </a:xfrm>
          <a:prstGeom prst="rect">
            <a:avLst/>
          </a:prstGeom>
          <a:noFill/>
        </p:spPr>
        <p:txBody>
          <a:bodyPr wrap="square" lIns="0" tIns="0" rIns="0" bIns="0">
            <a:spAutoFit/>
          </a:bodyPr>
          <a:lstStyle/>
          <a:p>
            <a:pPr>
              <a:defRPr sz="2400" b="1">
                <a:solidFill>
                  <a:srgbClr val="F8FAFC"/>
                </a:solidFill>
              </a:defRPr>
            </a:pPr>
            <a:r>
              <a:t>Limitations, Responsible AI &amp; Next Steps</a:t>
            </a:r>
          </a:p>
        </p:txBody>
      </p:sp>
      <p:sp>
        <p:nvSpPr>
          <p:cNvPr id="5" name="Rounded Rectangle 4"/>
          <p:cNvSpPr/>
          <p:nvPr/>
        </p:nvSpPr>
        <p:spPr>
          <a:xfrm>
            <a:off x="9601200" y="502920"/>
            <a:ext cx="1828800" cy="41148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Rubric 7 &amp; 8</a:t>
            </a:r>
          </a:p>
        </p:txBody>
      </p:sp>
      <p:sp>
        <p:nvSpPr>
          <p:cNvPr id="6" name="Rounded Rectangle 5"/>
          <p:cNvSpPr/>
          <p:nvPr/>
        </p:nvSpPr>
        <p:spPr>
          <a:xfrm>
            <a:off x="731520" y="1463040"/>
            <a:ext cx="3291840" cy="4754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182880"/>
          <a:lstStyle/>
          <a:p>
            <a:pPr algn="ctr">
              <a:spcAft>
                <a:spcPts val="1000"/>
              </a:spcAft>
              <a:defRPr sz="1600" b="1">
                <a:solidFill>
                  <a:srgbClr val="F59E0B"/>
                </a:solidFill>
              </a:defRPr>
            </a:pPr>
            <a:r>
              <a:t>Known Limitations</a:t>
            </a:r>
          </a:p>
          <a:p>
            <a:pPr>
              <a:spcAft>
                <a:spcPts val="600"/>
              </a:spcAft>
              <a:defRPr sz="1200">
                <a:solidFill>
                  <a:srgbClr val="E2E8F0"/>
                </a:solidFill>
              </a:defRPr>
            </a:pPr>
            <a:r>
              <a:t>• Synthetic Formatting: Real bank data has higher abbreviation variability.</a:t>
            </a:r>
          </a:p>
          <a:p>
            <a:pPr>
              <a:spcAft>
                <a:spcPts val="600"/>
              </a:spcAft>
              <a:defRPr sz="1200">
                <a:solidFill>
                  <a:srgbClr val="E2E8F0"/>
                </a:solidFill>
              </a:defRPr>
            </a:pPr>
            <a:r>
              <a:t>• Fixed Taxonomy: Fixed to 17 categories; unlisted spending mapped to nearest class.</a:t>
            </a:r>
          </a:p>
          <a:p>
            <a:pPr>
              <a:spcAft>
                <a:spcPts val="600"/>
              </a:spcAft>
              <a:defRPr sz="1200">
                <a:solidFill>
                  <a:srgbClr val="E2E8F0"/>
                </a:solidFill>
              </a:defRPr>
            </a:pPr>
            <a:r>
              <a:t>• Lexical Sparsity: Pure bag-of-words flags unknown merchants but cannot infer novel semantics.</a:t>
            </a:r>
          </a:p>
          <a:p>
            <a:pPr>
              <a:spcAft>
                <a:spcPts val="600"/>
              </a:spcAft>
              <a:defRPr sz="1200">
                <a:solidFill>
                  <a:srgbClr val="E2E8F0"/>
                </a:solidFill>
              </a:defRPr>
            </a:pPr>
            <a:r>
              <a:t>• No PII: Model does not process real card numbers or private credentials.</a:t>
            </a:r>
          </a:p>
        </p:txBody>
      </p:sp>
      <p:sp>
        <p:nvSpPr>
          <p:cNvPr id="7" name="Rounded Rectangle 6"/>
          <p:cNvSpPr/>
          <p:nvPr/>
        </p:nvSpPr>
        <p:spPr>
          <a:xfrm>
            <a:off x="4389120" y="1463040"/>
            <a:ext cx="3291840" cy="4754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182880"/>
          <a:lstStyle/>
          <a:p>
            <a:pPr algn="ctr">
              <a:spcAft>
                <a:spcPts val="1000"/>
              </a:spcAft>
              <a:defRPr sz="1600" b="1">
                <a:solidFill>
                  <a:srgbClr val="38BDF8"/>
                </a:solidFill>
              </a:defRPr>
            </a:pPr>
            <a:r>
              <a:t>Recommended Next Steps</a:t>
            </a:r>
          </a:p>
          <a:p>
            <a:pPr>
              <a:spcAft>
                <a:spcPts val="600"/>
              </a:spcAft>
              <a:defRPr sz="1200">
                <a:solidFill>
                  <a:srgbClr val="E2E8F0"/>
                </a:solidFill>
              </a:defRPr>
            </a:pPr>
            <a:r>
              <a:t>• Time-Based Splits: Test on temporal transaction streams across seasons.</a:t>
            </a:r>
          </a:p>
          <a:p>
            <a:pPr>
              <a:spcAft>
                <a:spcPts val="600"/>
              </a:spcAft>
              <a:defRPr sz="1200">
                <a:solidFill>
                  <a:srgbClr val="E2E8F0"/>
                </a:solidFill>
              </a:defRPr>
            </a:pPr>
            <a:r>
              <a:t>• Active Learning Feedback: User corrections feed back to expand merchant vocabulary.</a:t>
            </a:r>
          </a:p>
          <a:p>
            <a:pPr>
              <a:spcAft>
                <a:spcPts val="600"/>
              </a:spcAft>
              <a:defRPr sz="1200">
                <a:solidFill>
                  <a:srgbClr val="E2E8F0"/>
                </a:solidFill>
              </a:defRPr>
            </a:pPr>
            <a:r>
              <a:t>• Hybrid Cascade: Lightweight TF-IDF for 95% high-confidence transactions + LLM fallback for OOV cases.</a:t>
            </a:r>
          </a:p>
          <a:p>
            <a:pPr>
              <a:spcAft>
                <a:spcPts val="600"/>
              </a:spcAft>
              <a:defRPr sz="1200">
                <a:solidFill>
                  <a:srgbClr val="E2E8F0"/>
                </a:solidFill>
              </a:defRPr>
            </a:pPr>
            <a:r>
              <a:t>• Sub-Category Taxonomy: Expanding to hierarchal merchant tagging.</a:t>
            </a:r>
          </a:p>
        </p:txBody>
      </p:sp>
      <p:sp>
        <p:nvSpPr>
          <p:cNvPr id="8" name="Rounded Rectangle 7"/>
          <p:cNvSpPr/>
          <p:nvPr/>
        </p:nvSpPr>
        <p:spPr>
          <a:xfrm>
            <a:off x="8046720" y="1463040"/>
            <a:ext cx="3383280" cy="4754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182880"/>
          <a:lstStyle/>
          <a:p>
            <a:pPr algn="ctr">
              <a:spcAft>
                <a:spcPts val="1000"/>
              </a:spcAft>
              <a:defRPr sz="1600" b="1">
                <a:solidFill>
                  <a:srgbClr val="10B981"/>
                </a:solidFill>
              </a:defRPr>
            </a:pPr>
            <a:r>
              <a:t>Capstone Deliverables Complete</a:t>
            </a:r>
          </a:p>
          <a:p>
            <a:pPr>
              <a:spcAft>
                <a:spcPts val="600"/>
              </a:spcAft>
              <a:defRPr sz="1200">
                <a:solidFill>
                  <a:srgbClr val="E2E8F0"/>
                </a:solidFill>
              </a:defRPr>
            </a:pPr>
            <a:r>
              <a:t>• Gates C2-C4: GREEN (Data &amp; Model gates).</a:t>
            </a:r>
          </a:p>
          <a:p>
            <a:pPr>
              <a:spcAft>
                <a:spcPts val="600"/>
              </a:spcAft>
              <a:defRPr sz="1200">
                <a:solidFill>
                  <a:srgbClr val="E2E8F0"/>
                </a:solidFill>
              </a:defRPr>
            </a:pPr>
            <a:r>
              <a:t>• Gate C5: LOCAL-VERIFIED (Streamlit app + smoke test pass).</a:t>
            </a:r>
          </a:p>
          <a:p>
            <a:pPr>
              <a:spcAft>
                <a:spcPts val="600"/>
              </a:spcAft>
              <a:defRPr sz="1200">
                <a:solidFill>
                  <a:srgbClr val="E2E8F0"/>
                </a:solidFill>
              </a:defRPr>
            </a:pPr>
            <a:r>
              <a:t>• Gate C6: GREEN (Evidence matrix, reproduction guide, defense pack).</a:t>
            </a:r>
          </a:p>
          <a:p>
            <a:pPr>
              <a:spcAft>
                <a:spcPts val="600"/>
              </a:spcAft>
              <a:defRPr sz="1200">
                <a:solidFill>
                  <a:srgbClr val="E2E8F0"/>
                </a:solidFill>
              </a:defRPr>
            </a:pPr>
            <a:r>
              <a:t>• Artifact Size: 1.2 MB bundle.</a:t>
            </a:r>
          </a:p>
          <a:p>
            <a:pPr>
              <a:spcAft>
                <a:spcPts val="600"/>
              </a:spcAft>
              <a:defRPr sz="1200">
                <a:solidFill>
                  <a:srgbClr val="E2E8F0"/>
                </a:solidFill>
              </a:defRPr>
            </a:pPr>
            <a:r>
              <a:t>• Reproducibility: 100% reproducible via scripts.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9144000" cy="274320"/>
          </a:xfrm>
          <a:prstGeom prst="rect">
            <a:avLst/>
          </a:prstGeom>
          <a:noFill/>
        </p:spPr>
        <p:txBody>
          <a:bodyPr wrap="square" lIns="0" tIns="0" rIns="0" bIns="0">
            <a:spAutoFit/>
          </a:bodyPr>
          <a:lstStyle/>
          <a:p>
            <a:pPr>
              <a:defRPr sz="1100" b="1">
                <a:solidFill>
                  <a:srgbClr val="38BDF8"/>
                </a:solidFill>
              </a:defRPr>
            </a:pPr>
            <a:r>
              <a:t>EVIDENCE REFERENCE</a:t>
            </a:r>
          </a:p>
        </p:txBody>
      </p:sp>
      <p:sp>
        <p:nvSpPr>
          <p:cNvPr id="4" name="TextBox 3"/>
          <p:cNvSpPr txBox="1"/>
          <p:nvPr/>
        </p:nvSpPr>
        <p:spPr>
          <a:xfrm>
            <a:off x="731520" y="685800"/>
            <a:ext cx="8686800" cy="640080"/>
          </a:xfrm>
          <a:prstGeom prst="rect">
            <a:avLst/>
          </a:prstGeom>
          <a:noFill/>
        </p:spPr>
        <p:txBody>
          <a:bodyPr wrap="square" lIns="0" tIns="0" rIns="0" bIns="0">
            <a:spAutoFit/>
          </a:bodyPr>
          <a:lstStyle/>
          <a:p>
            <a:pPr>
              <a:defRPr sz="2400" b="1">
                <a:solidFill>
                  <a:srgbClr val="F8FAFC"/>
                </a:solidFill>
              </a:defRPr>
            </a:pPr>
            <a:r>
              <a:t>Mentor Q&amp;A Defense Bank (Backup)</a:t>
            </a:r>
          </a:p>
        </p:txBody>
      </p:sp>
      <p:sp>
        <p:nvSpPr>
          <p:cNvPr id="5" name="Rounded Rectangle 4"/>
          <p:cNvSpPr/>
          <p:nvPr/>
        </p:nvSpPr>
        <p:spPr>
          <a:xfrm>
            <a:off x="9601200" y="502920"/>
            <a:ext cx="1828800" cy="41148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Rubric 8</a:t>
            </a:r>
          </a:p>
        </p:txBody>
      </p:sp>
      <p:sp>
        <p:nvSpPr>
          <p:cNvPr id="6" name="Rounded Rectangle 5"/>
          <p:cNvSpPr/>
          <p:nvPr/>
        </p:nvSpPr>
        <p:spPr>
          <a:xfrm>
            <a:off x="731520" y="1463040"/>
            <a:ext cx="3291840" cy="4754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182880"/>
          <a:lstStyle/>
          <a:p>
            <a:pPr algn="ctr">
              <a:spcAft>
                <a:spcPts val="1000"/>
              </a:spcAft>
              <a:defRPr sz="1600" b="1">
                <a:solidFill>
                  <a:srgbClr val="38BDF8"/>
                </a:solidFill>
              </a:defRPr>
            </a:pPr>
            <a:r>
              <a:t>Q1: Why Logistic Regression?</a:t>
            </a:r>
          </a:p>
          <a:p>
            <a:pPr>
              <a:spcAft>
                <a:spcPts val="600"/>
              </a:spcAft>
              <a:defRPr sz="1200">
                <a:solidFill>
                  <a:srgbClr val="E2E8F0"/>
                </a:solidFill>
              </a:defRPr>
            </a:pPr>
            <a:r>
              <a:t>• Delivers strong validation Macro-F1 (0.9960).</a:t>
            </a:r>
          </a:p>
          <a:p>
            <a:pPr>
              <a:spcAft>
                <a:spcPts val="600"/>
              </a:spcAft>
              <a:defRPr sz="1200">
                <a:solidFill>
                  <a:srgbClr val="E2E8F0"/>
                </a:solidFill>
              </a:defRPr>
            </a:pPr>
            <a:r>
              <a:t>• Provides calibrated probabilities (predict_proba) required for confidence thresholds.</a:t>
            </a:r>
          </a:p>
          <a:p>
            <a:pPr>
              <a:spcAft>
                <a:spcPts val="600"/>
              </a:spcAft>
              <a:defRPr sz="1200">
                <a:solidFill>
                  <a:srgbClr val="E2E8F0"/>
                </a:solidFill>
              </a:defRPr>
            </a:pPr>
            <a:r>
              <a:t>• MiniLM embeddings scored lower (0.9468) and added 400MB dependencies.</a:t>
            </a:r>
          </a:p>
          <a:p>
            <a:pPr>
              <a:spcAft>
                <a:spcPts val="600"/>
              </a:spcAft>
              <a:defRPr sz="1200">
                <a:solidFill>
                  <a:srgbClr val="E2E8F0"/>
                </a:solidFill>
              </a:defRPr>
            </a:pPr>
            <a:r>
              <a:t>• LinearSVC scored 0.9971 but has no probability calibration.</a:t>
            </a:r>
          </a:p>
        </p:txBody>
      </p:sp>
      <p:sp>
        <p:nvSpPr>
          <p:cNvPr id="7" name="Rounded Rectangle 6"/>
          <p:cNvSpPr/>
          <p:nvPr/>
        </p:nvSpPr>
        <p:spPr>
          <a:xfrm>
            <a:off x="4389120" y="1463040"/>
            <a:ext cx="3291840" cy="4754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182880"/>
          <a:lstStyle/>
          <a:p>
            <a:pPr algn="ctr">
              <a:spcAft>
                <a:spcPts val="1000"/>
              </a:spcAft>
              <a:defRPr sz="1600" b="1">
                <a:solidFill>
                  <a:srgbClr val="10B981"/>
                </a:solidFill>
              </a:defRPr>
            </a:pPr>
            <a:r>
              <a:t>Q2: Zero Data Leakage Proof?</a:t>
            </a:r>
          </a:p>
          <a:p>
            <a:pPr>
              <a:spcAft>
                <a:spcPts val="600"/>
              </a:spcAft>
              <a:defRPr sz="1200">
                <a:solidFill>
                  <a:srgbClr val="E2E8F0"/>
                </a:solidFill>
              </a:defRPr>
            </a:pPr>
            <a:r>
              <a:t>• 22,298 exact duplicates dropped BEFORE splitting.</a:t>
            </a:r>
          </a:p>
          <a:p>
            <a:pPr>
              <a:spcAft>
                <a:spcPts val="600"/>
              </a:spcAft>
              <a:defRPr sz="1200">
                <a:solidFill>
                  <a:srgbClr val="E2E8F0"/>
                </a:solidFill>
              </a:defRPr>
            </a:pPr>
            <a:r>
              <a:t>• TF-IDF vectorizer fit strictly on Train split.</a:t>
            </a:r>
          </a:p>
          <a:p>
            <a:pPr>
              <a:spcAft>
                <a:spcPts val="600"/>
              </a:spcAft>
              <a:defRPr sz="1200">
                <a:solidFill>
                  <a:srgbClr val="E2E8F0"/>
                </a:solidFill>
              </a:defRPr>
            </a:pPr>
            <a:r>
              <a:t>• tests/test_data_gate.py explicitly asserts 0 shared descriptions across splits.</a:t>
            </a:r>
          </a:p>
          <a:p>
            <a:pPr>
              <a:spcAft>
                <a:spcPts val="600"/>
              </a:spcAft>
              <a:defRPr sz="1200">
                <a:solidFill>
                  <a:srgbClr val="E2E8F0"/>
                </a:solidFill>
              </a:defRPr>
            </a:pPr>
            <a:r>
              <a:t>• Protected test set accessed once in src/finalize.py.</a:t>
            </a:r>
          </a:p>
        </p:txBody>
      </p:sp>
      <p:sp>
        <p:nvSpPr>
          <p:cNvPr id="8" name="Rounded Rectangle 7"/>
          <p:cNvSpPr/>
          <p:nvPr/>
        </p:nvSpPr>
        <p:spPr>
          <a:xfrm>
            <a:off x="8046720" y="1463040"/>
            <a:ext cx="3383280" cy="4754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tIns="228600" rIns="228600" bIns="182880"/>
          <a:lstStyle/>
          <a:p>
            <a:pPr algn="ctr">
              <a:spcAft>
                <a:spcPts val="1000"/>
              </a:spcAft>
              <a:defRPr sz="1600" b="1">
                <a:solidFill>
                  <a:srgbClr val="F59E0B"/>
                </a:solidFill>
              </a:defRPr>
            </a:pPr>
            <a:r>
              <a:t>Q3: Handling Unseen Merchants?</a:t>
            </a:r>
          </a:p>
          <a:p>
            <a:pPr>
              <a:spcAft>
                <a:spcPts val="600"/>
              </a:spcAft>
              <a:defRPr sz="1200">
                <a:solidFill>
                  <a:srgbClr val="E2E8F0"/>
                </a:solidFill>
              </a:defRPr>
            </a:pPr>
            <a:r>
              <a:t>• Unseen-merchant test slice (n=716) achieved 0.9784 Macro-F1.</a:t>
            </a:r>
          </a:p>
          <a:p>
            <a:pPr>
              <a:spcAft>
                <a:spcPts val="600"/>
              </a:spcAft>
              <a:defRPr sz="1200">
                <a:solidFill>
                  <a:srgbClr val="E2E8F0"/>
                </a:solidFill>
              </a:defRPr>
            </a:pPr>
            <a:r>
              <a:t>• Dual guard in src/inference.py checks for recognized terms.</a:t>
            </a:r>
          </a:p>
          <a:p>
            <a:pPr>
              <a:spcAft>
                <a:spcPts val="600"/>
              </a:spcAft>
              <a:defRPr sz="1200">
                <a:solidFill>
                  <a:srgbClr val="E2E8F0"/>
                </a:solidFill>
              </a:defRPr>
            </a:pPr>
            <a:r>
              <a:t>• Inputs with zero recognized vocabulary terms trigger a 'needs_review' flag.</a:t>
            </a:r>
          </a:p>
          <a:p>
            <a:pPr>
              <a:spcAft>
                <a:spcPts val="600"/>
              </a:spcAft>
              <a:defRPr sz="1200">
                <a:solidFill>
                  <a:srgbClr val="E2E8F0"/>
                </a:solidFill>
              </a:defRPr>
            </a:pPr>
            <a:r>
              <a:t>• Prevents false confident predictions.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